
<file path=[Content_Types].xml><?xml version="1.0" encoding="utf-8"?>
<Types xmlns="http://schemas.openxmlformats.org/package/2006/content-types">
  <Default Extension="doc" ContentType="application/msword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1" r:id="rId6"/>
    <p:sldId id="262" r:id="rId7"/>
    <p:sldId id="263" r:id="rId8"/>
    <p:sldId id="264" r:id="rId9"/>
    <p:sldId id="265" r:id="rId10"/>
  </p:sldIdLst>
  <p:sldSz cx="6858000" cy="9144000" type="screen4x3"/>
  <p:notesSz cx="6858000" cy="92964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20" autoAdjust="0"/>
    <p:restoredTop sz="94660"/>
  </p:normalViewPr>
  <p:slideViewPr>
    <p:cSldViewPr>
      <p:cViewPr>
        <p:scale>
          <a:sx n="125" d="100"/>
          <a:sy n="125" d="100"/>
        </p:scale>
        <p:origin x="312" y="-37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840038"/>
            <a:ext cx="5829300" cy="196056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5181600"/>
            <a:ext cx="4800600" cy="23368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9125A82B-2CCF-464E-91C1-C2331CDBA5A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04E3288B-9524-4753-B7CB-1A7EABF3DD0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D31CDB50-91A3-46F3-89B9-1625B4AD177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F4B70BB-8141-42C8-8C99-8154A0B694C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91694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3A352CC2-7A15-453A-8A90-1F38E659B28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9FAF9D89-D6A0-44FB-B1F4-25AA5E7B146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CB0E09AB-3569-46C7-970E-7400B31AEDD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DC68D6E-CE00-4CFF-97B8-35784329E31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915298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338" y="5875338"/>
            <a:ext cx="5829300" cy="181610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338" y="3875088"/>
            <a:ext cx="5829300" cy="2000250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1BAA8AC3-8641-4349-901B-71EBF912125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70D7D54-C431-45F7-A332-5F0286C9B70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5D5FC0BE-BDCC-4B7C-9C5B-908B5816255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D6FCEB6-4B09-47DD-9333-5A2E73C4767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975563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4350" y="2641600"/>
            <a:ext cx="2838450" cy="5486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05200" y="2641600"/>
            <a:ext cx="2838450" cy="54864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3ED5431-C216-478F-AD06-B324F4216E1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F73BD0F-AEFB-4A07-A2F0-D4229A319F5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E70E720-1A03-4226-9F7D-49154454FF6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D17FEC9-1941-4731-991F-A7E988AAB93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537114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366713"/>
            <a:ext cx="6172200" cy="1524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2046288"/>
            <a:ext cx="3030538" cy="85407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900363"/>
            <a:ext cx="3030538" cy="52673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4563" y="2046288"/>
            <a:ext cx="3030537" cy="85407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4563" y="2900363"/>
            <a:ext cx="3030537" cy="5267325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F9722A30-726A-4684-899A-C9BAAEFAA44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>
            <a:extLst>
              <a:ext uri="{FF2B5EF4-FFF2-40B4-BE49-F238E27FC236}">
                <a16:creationId xmlns:a16="http://schemas.microsoft.com/office/drawing/2014/main" id="{3E954E49-D61A-48C7-B3E1-87D24A550CF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>
            <a:extLst>
              <a:ext uri="{FF2B5EF4-FFF2-40B4-BE49-F238E27FC236}">
                <a16:creationId xmlns:a16="http://schemas.microsoft.com/office/drawing/2014/main" id="{DAD96845-8722-40D1-B7B6-19DA62CC0B0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D8A5AFD-52C1-4DA4-AA98-B08678FB76F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382764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0B8C6C15-FD56-4ABA-AB12-BAA70ACDFB5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DD50E1FB-2178-4660-859C-59A4AD37360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1AA6322A-92C9-446C-930A-0698A19F92D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C9749A5-D26B-4DD9-88B7-4BB0D71C6EB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81183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C26BD151-6E80-4919-A6C6-E85E8962B2B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0EDE622F-11F0-46C9-85F2-95727BDB710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2738D21C-6B11-469E-BF8F-83948469C37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4676B22-A5F5-4030-927E-C4CA6A17B41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690250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363538"/>
            <a:ext cx="2255838" cy="154940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8" y="363538"/>
            <a:ext cx="3833812" cy="780415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912938"/>
            <a:ext cx="2255838" cy="625475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B731B5-3765-429E-872A-8668632123D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07C996-8DF7-4E2F-AF23-8DAE146FF66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E165721-1FB1-4FD2-A3E1-477148721D0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CC26379-5844-4A64-9BA4-F7716D322D5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156412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613" y="6400800"/>
            <a:ext cx="4114800" cy="7556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613" y="817563"/>
            <a:ext cx="41148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613" y="7156450"/>
            <a:ext cx="4114800" cy="107315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4575CE-128F-476E-9884-74481803822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F8A3289-721A-48D4-BD33-CB44F14573E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19935AD-6A4E-4742-A5EC-70E337C65E5F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E170698-8585-408D-A50A-82C6BAF88B5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419455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3F1E756A-6CC2-49FD-B2C6-94BBA2E28D7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A97474D1-7536-4F1B-9CB0-D3EB9F13FE8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4C534539-C415-4FB2-BCF4-AA9959083DD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5F15850-7A6B-4577-8E5E-4628090CA04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057563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886325" y="812800"/>
            <a:ext cx="1457325" cy="7315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4350" y="812800"/>
            <a:ext cx="4219575" cy="7315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DBC7C570-8D38-46A4-A221-68C08F27590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4ADE6BD3-ADB3-4002-8C56-DD9C0767C1E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85F287D-3029-4F09-A12C-3077245F7E1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78AE627-F7F6-4910-8AF8-EDFD7EF370D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634167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4BC1576A-CAC6-4108-AC52-7CAE92E892F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14350" y="812800"/>
            <a:ext cx="5829300" cy="152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67FFCB32-D8F0-40DD-8DDD-4FE31F5DEF86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14350" y="2641600"/>
            <a:ext cx="5829300" cy="5486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75817BB7-B3C8-41CB-87F5-8A89D275B32F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514350" y="8331200"/>
            <a:ext cx="1428750" cy="60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>
            <a:extLst>
              <a:ext uri="{FF2B5EF4-FFF2-40B4-BE49-F238E27FC236}">
                <a16:creationId xmlns:a16="http://schemas.microsoft.com/office/drawing/2014/main" id="{B305F237-D2AD-46AB-9089-261059316DA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2343150" y="8331200"/>
            <a:ext cx="2171700" cy="60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8A19BE72-D15C-4880-BADE-7EDEFB1FE987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4914900" y="8331200"/>
            <a:ext cx="1428750" cy="60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 smtClean="0"/>
            </a:lvl1pPr>
          </a:lstStyle>
          <a:p>
            <a:pPr>
              <a:defRPr/>
            </a:pPr>
            <a:fld id="{807ACE82-7722-4325-9638-353FC5DF3171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Microsoft_Word_97_-_2003_Document.doc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50" name="Object 2">
            <a:extLst>
              <a:ext uri="{FF2B5EF4-FFF2-40B4-BE49-F238E27FC236}">
                <a16:creationId xmlns:a16="http://schemas.microsoft.com/office/drawing/2014/main" id="{0FC2EDEB-CD6D-479E-AC2A-6579F6E4CF6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76977632"/>
              </p:ext>
            </p:extLst>
          </p:nvPr>
        </p:nvGraphicFramePr>
        <p:xfrm>
          <a:off x="533400" y="4921250"/>
          <a:ext cx="5394325" cy="31289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Document" r:id="rId2" imgW="5483860" imgH="2808060" progId="Word.Document.8">
                  <p:embed/>
                </p:oleObj>
              </mc:Choice>
              <mc:Fallback>
                <p:oleObj name="Document" r:id="rId2" imgW="5483860" imgH="2808060" progId="Word.Document.8">
                  <p:embed/>
                  <p:pic>
                    <p:nvPicPr>
                      <p:cNvPr id="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3400" y="4921250"/>
                        <a:ext cx="5394325" cy="31289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51" name="Text Box 3">
            <a:extLst>
              <a:ext uri="{FF2B5EF4-FFF2-40B4-BE49-F238E27FC236}">
                <a16:creationId xmlns:a16="http://schemas.microsoft.com/office/drawing/2014/main" id="{6F9A29ED-552A-4B04-9BFF-78324234E8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59075" y="152400"/>
            <a:ext cx="955675" cy="738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400"/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1400"/>
              <a:t>CMSC204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1400"/>
              <a:t>Kartchner</a:t>
            </a:r>
          </a:p>
        </p:txBody>
      </p:sp>
      <p:sp>
        <p:nvSpPr>
          <p:cNvPr id="2054" name="Rectangle 7">
            <a:extLst>
              <a:ext uri="{FF2B5EF4-FFF2-40B4-BE49-F238E27FC236}">
                <a16:creationId xmlns:a16="http://schemas.microsoft.com/office/drawing/2014/main" id="{CD9F0903-62EA-42BD-8AD2-C0B50A702B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138" y="1277035"/>
            <a:ext cx="6291262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spcBef>
                <a:spcPct val="20000"/>
              </a:spcBef>
              <a:buChar char="•"/>
              <a:tabLst>
                <a:tab pos="0" algn="l"/>
                <a:tab pos="685800" algn="l"/>
                <a:tab pos="914400" algn="l"/>
                <a:tab pos="1143000" algn="l"/>
                <a:tab pos="1371600" algn="l"/>
                <a:tab pos="1600200" algn="l"/>
                <a:tab pos="1828800" algn="l"/>
                <a:tab pos="2057400" algn="l"/>
                <a:tab pos="2286000" algn="l"/>
                <a:tab pos="2514600" algn="l"/>
                <a:tab pos="2743200" algn="l"/>
                <a:tab pos="2971800" algn="l"/>
                <a:tab pos="3200400" algn="l"/>
                <a:tab pos="3429000" algn="l"/>
                <a:tab pos="3657600" algn="l"/>
                <a:tab pos="3708400" algn="l"/>
                <a:tab pos="3886200" algn="l"/>
                <a:tab pos="4114800" algn="l"/>
                <a:tab pos="4343400" algn="l"/>
                <a:tab pos="4572000" algn="l"/>
                <a:tab pos="4800600" algn="l"/>
                <a:tab pos="5029200" algn="l"/>
              </a:tabLst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tabLst>
                <a:tab pos="0" algn="l"/>
                <a:tab pos="685800" algn="l"/>
                <a:tab pos="914400" algn="l"/>
                <a:tab pos="1143000" algn="l"/>
                <a:tab pos="1371600" algn="l"/>
                <a:tab pos="1600200" algn="l"/>
                <a:tab pos="1828800" algn="l"/>
                <a:tab pos="2057400" algn="l"/>
                <a:tab pos="2286000" algn="l"/>
                <a:tab pos="2514600" algn="l"/>
                <a:tab pos="2743200" algn="l"/>
                <a:tab pos="2971800" algn="l"/>
                <a:tab pos="3200400" algn="l"/>
                <a:tab pos="3429000" algn="l"/>
                <a:tab pos="3657600" algn="l"/>
                <a:tab pos="3708400" algn="l"/>
                <a:tab pos="3886200" algn="l"/>
                <a:tab pos="4114800" algn="l"/>
                <a:tab pos="4343400" algn="l"/>
                <a:tab pos="4572000" algn="l"/>
                <a:tab pos="4800600" algn="l"/>
                <a:tab pos="5029200" algn="l"/>
              </a:tabLst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tabLst>
                <a:tab pos="0" algn="l"/>
                <a:tab pos="685800" algn="l"/>
                <a:tab pos="914400" algn="l"/>
                <a:tab pos="1143000" algn="l"/>
                <a:tab pos="1371600" algn="l"/>
                <a:tab pos="1600200" algn="l"/>
                <a:tab pos="1828800" algn="l"/>
                <a:tab pos="2057400" algn="l"/>
                <a:tab pos="2286000" algn="l"/>
                <a:tab pos="2514600" algn="l"/>
                <a:tab pos="2743200" algn="l"/>
                <a:tab pos="2971800" algn="l"/>
                <a:tab pos="3200400" algn="l"/>
                <a:tab pos="3429000" algn="l"/>
                <a:tab pos="3657600" algn="l"/>
                <a:tab pos="3708400" algn="l"/>
                <a:tab pos="3886200" algn="l"/>
                <a:tab pos="4114800" algn="l"/>
                <a:tab pos="4343400" algn="l"/>
                <a:tab pos="4572000" algn="l"/>
                <a:tab pos="4800600" algn="l"/>
                <a:tab pos="5029200" algn="l"/>
              </a:tabLs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tabLst>
                <a:tab pos="0" algn="l"/>
                <a:tab pos="685800" algn="l"/>
                <a:tab pos="914400" algn="l"/>
                <a:tab pos="1143000" algn="l"/>
                <a:tab pos="1371600" algn="l"/>
                <a:tab pos="1600200" algn="l"/>
                <a:tab pos="1828800" algn="l"/>
                <a:tab pos="2057400" algn="l"/>
                <a:tab pos="2286000" algn="l"/>
                <a:tab pos="2514600" algn="l"/>
                <a:tab pos="2743200" algn="l"/>
                <a:tab pos="2971800" algn="l"/>
                <a:tab pos="3200400" algn="l"/>
                <a:tab pos="3429000" algn="l"/>
                <a:tab pos="3657600" algn="l"/>
                <a:tab pos="3708400" algn="l"/>
                <a:tab pos="3886200" algn="l"/>
                <a:tab pos="4114800" algn="l"/>
                <a:tab pos="4343400" algn="l"/>
                <a:tab pos="4572000" algn="l"/>
                <a:tab pos="4800600" algn="l"/>
                <a:tab pos="5029200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tabLst>
                <a:tab pos="0" algn="l"/>
                <a:tab pos="685800" algn="l"/>
                <a:tab pos="914400" algn="l"/>
                <a:tab pos="1143000" algn="l"/>
                <a:tab pos="1371600" algn="l"/>
                <a:tab pos="1600200" algn="l"/>
                <a:tab pos="1828800" algn="l"/>
                <a:tab pos="2057400" algn="l"/>
                <a:tab pos="2286000" algn="l"/>
                <a:tab pos="2514600" algn="l"/>
                <a:tab pos="2743200" algn="l"/>
                <a:tab pos="2971800" algn="l"/>
                <a:tab pos="3200400" algn="l"/>
                <a:tab pos="3429000" algn="l"/>
                <a:tab pos="3657600" algn="l"/>
                <a:tab pos="3708400" algn="l"/>
                <a:tab pos="3886200" algn="l"/>
                <a:tab pos="4114800" algn="l"/>
                <a:tab pos="4343400" algn="l"/>
                <a:tab pos="4572000" algn="l"/>
                <a:tab pos="4800600" algn="l"/>
                <a:tab pos="5029200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0" algn="l"/>
                <a:tab pos="685800" algn="l"/>
                <a:tab pos="914400" algn="l"/>
                <a:tab pos="1143000" algn="l"/>
                <a:tab pos="1371600" algn="l"/>
                <a:tab pos="1600200" algn="l"/>
                <a:tab pos="1828800" algn="l"/>
                <a:tab pos="2057400" algn="l"/>
                <a:tab pos="2286000" algn="l"/>
                <a:tab pos="2514600" algn="l"/>
                <a:tab pos="2743200" algn="l"/>
                <a:tab pos="2971800" algn="l"/>
                <a:tab pos="3200400" algn="l"/>
                <a:tab pos="3429000" algn="l"/>
                <a:tab pos="3657600" algn="l"/>
                <a:tab pos="3708400" algn="l"/>
                <a:tab pos="3886200" algn="l"/>
                <a:tab pos="4114800" algn="l"/>
                <a:tab pos="4343400" algn="l"/>
                <a:tab pos="4572000" algn="l"/>
                <a:tab pos="4800600" algn="l"/>
                <a:tab pos="5029200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0" algn="l"/>
                <a:tab pos="685800" algn="l"/>
                <a:tab pos="914400" algn="l"/>
                <a:tab pos="1143000" algn="l"/>
                <a:tab pos="1371600" algn="l"/>
                <a:tab pos="1600200" algn="l"/>
                <a:tab pos="1828800" algn="l"/>
                <a:tab pos="2057400" algn="l"/>
                <a:tab pos="2286000" algn="l"/>
                <a:tab pos="2514600" algn="l"/>
                <a:tab pos="2743200" algn="l"/>
                <a:tab pos="2971800" algn="l"/>
                <a:tab pos="3200400" algn="l"/>
                <a:tab pos="3429000" algn="l"/>
                <a:tab pos="3657600" algn="l"/>
                <a:tab pos="3708400" algn="l"/>
                <a:tab pos="3886200" algn="l"/>
                <a:tab pos="4114800" algn="l"/>
                <a:tab pos="4343400" algn="l"/>
                <a:tab pos="4572000" algn="l"/>
                <a:tab pos="4800600" algn="l"/>
                <a:tab pos="5029200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0" algn="l"/>
                <a:tab pos="685800" algn="l"/>
                <a:tab pos="914400" algn="l"/>
                <a:tab pos="1143000" algn="l"/>
                <a:tab pos="1371600" algn="l"/>
                <a:tab pos="1600200" algn="l"/>
                <a:tab pos="1828800" algn="l"/>
                <a:tab pos="2057400" algn="l"/>
                <a:tab pos="2286000" algn="l"/>
                <a:tab pos="2514600" algn="l"/>
                <a:tab pos="2743200" algn="l"/>
                <a:tab pos="2971800" algn="l"/>
                <a:tab pos="3200400" algn="l"/>
                <a:tab pos="3429000" algn="l"/>
                <a:tab pos="3657600" algn="l"/>
                <a:tab pos="3708400" algn="l"/>
                <a:tab pos="3886200" algn="l"/>
                <a:tab pos="4114800" algn="l"/>
                <a:tab pos="4343400" algn="l"/>
                <a:tab pos="4572000" algn="l"/>
                <a:tab pos="4800600" algn="l"/>
                <a:tab pos="5029200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0" algn="l"/>
                <a:tab pos="685800" algn="l"/>
                <a:tab pos="914400" algn="l"/>
                <a:tab pos="1143000" algn="l"/>
                <a:tab pos="1371600" algn="l"/>
                <a:tab pos="1600200" algn="l"/>
                <a:tab pos="1828800" algn="l"/>
                <a:tab pos="2057400" algn="l"/>
                <a:tab pos="2286000" algn="l"/>
                <a:tab pos="2514600" algn="l"/>
                <a:tab pos="2743200" algn="l"/>
                <a:tab pos="2971800" algn="l"/>
                <a:tab pos="3200400" algn="l"/>
                <a:tab pos="3429000" algn="l"/>
                <a:tab pos="3657600" algn="l"/>
                <a:tab pos="3708400" algn="l"/>
                <a:tab pos="3886200" algn="l"/>
                <a:tab pos="4114800" algn="l"/>
                <a:tab pos="4343400" algn="l"/>
                <a:tab pos="4572000" algn="l"/>
                <a:tab pos="4800600" algn="l"/>
                <a:tab pos="5029200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/>
              <a:t>V(</a:t>
            </a:r>
            <a:r>
              <a:rPr lang="en-US" altLang="en-US" sz="1200" dirty="0" err="1"/>
              <a:t>StateGraph</a:t>
            </a:r>
            <a:r>
              <a:rPr lang="en-US" altLang="en-US" sz="1200" dirty="0"/>
              <a:t>) = {Oregon, Alaska, Texas, Hawaii, Vermont, </a:t>
            </a:r>
            <a:r>
              <a:rPr lang="en-US" altLang="en-US" sz="1200" dirty="0" err="1"/>
              <a:t>NewYork</a:t>
            </a:r>
            <a:r>
              <a:rPr lang="en-US" altLang="en-US" sz="1200" dirty="0"/>
              <a:t>, California}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/>
              <a:t>E(</a:t>
            </a:r>
            <a:r>
              <a:rPr lang="en-US" altLang="en-US" sz="1200" dirty="0" err="1"/>
              <a:t>StateGraph</a:t>
            </a:r>
            <a:r>
              <a:rPr lang="en-US" altLang="en-US" sz="1200" dirty="0"/>
              <a:t>) = {(Alaska, Oregon), (Hawaii, Alaska), (Hawaii, Texas), (Texas, Hawaii), (Hawaii, 	California), (Hawaii, New York), (Texas, Vermont), (Vermont, California), (Vermont, Alaska)}</a:t>
            </a:r>
          </a:p>
        </p:txBody>
      </p:sp>
      <p:sp>
        <p:nvSpPr>
          <p:cNvPr id="2055" name="Rectangle 8">
            <a:extLst>
              <a:ext uri="{FF2B5EF4-FFF2-40B4-BE49-F238E27FC236}">
                <a16:creationId xmlns:a16="http://schemas.microsoft.com/office/drawing/2014/main" id="{23AE5A62-58FC-45BC-8E66-2A3E942B3F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8600" y="3429000"/>
            <a:ext cx="5791200" cy="12954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400"/>
          </a:p>
        </p:txBody>
      </p:sp>
      <p:sp>
        <p:nvSpPr>
          <p:cNvPr id="2056" name="Text Box 9">
            <a:extLst>
              <a:ext uri="{FF2B5EF4-FFF2-40B4-BE49-F238E27FC236}">
                <a16:creationId xmlns:a16="http://schemas.microsoft.com/office/drawing/2014/main" id="{DF9A9F0D-E17B-4441-A5AB-ABE3472E3D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1325" y="2246313"/>
            <a:ext cx="1663700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/>
              <a:t>1.  Draw the StateGraph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B0BCF9-916A-F85E-FA57-EA4085A34B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400" y="2513648"/>
            <a:ext cx="3874567" cy="244316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ext Box 2">
            <a:extLst>
              <a:ext uri="{FF2B5EF4-FFF2-40B4-BE49-F238E27FC236}">
                <a16:creationId xmlns:a16="http://schemas.microsoft.com/office/drawing/2014/main" id="{C129A688-1F3C-4C9F-9AC5-19802C32F77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8925" y="5446713"/>
            <a:ext cx="3217863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/>
              <a:t>3.   b.   Show the adjacency lists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/>
              <a:t>            that would describe the edges in the graph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73641C4-B2C2-437B-AAA3-9677860519ED}"/>
              </a:ext>
            </a:extLst>
          </p:cNvPr>
          <p:cNvGrpSpPr/>
          <p:nvPr/>
        </p:nvGrpSpPr>
        <p:grpSpPr>
          <a:xfrm>
            <a:off x="914400" y="1447800"/>
            <a:ext cx="5486400" cy="2590800"/>
            <a:chOff x="381000" y="6248400"/>
            <a:chExt cx="5486400" cy="2590800"/>
          </a:xfrm>
        </p:grpSpPr>
        <p:sp>
          <p:nvSpPr>
            <p:cNvPr id="8" name="Rectangle 4">
              <a:extLst>
                <a:ext uri="{FF2B5EF4-FFF2-40B4-BE49-F238E27FC236}">
                  <a16:creationId xmlns:a16="http://schemas.microsoft.com/office/drawing/2014/main" id="{150515A3-7AEC-4F11-96B7-7933E5964D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1000" y="6553200"/>
              <a:ext cx="1143000" cy="22860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en-US" altLang="en-US" sz="2400"/>
            </a:p>
          </p:txBody>
        </p:sp>
        <p:sp>
          <p:nvSpPr>
            <p:cNvPr id="9" name="Rectangle 5">
              <a:extLst>
                <a:ext uri="{FF2B5EF4-FFF2-40B4-BE49-F238E27FC236}">
                  <a16:creationId xmlns:a16="http://schemas.microsoft.com/office/drawing/2014/main" id="{AC614A04-AAA4-4C45-9079-2C377ECCE7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05000" y="6477000"/>
              <a:ext cx="3962400" cy="23622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en-US" altLang="en-US" sz="2400"/>
            </a:p>
          </p:txBody>
        </p:sp>
        <p:sp>
          <p:nvSpPr>
            <p:cNvPr id="10" name="Text Box 10">
              <a:extLst>
                <a:ext uri="{FF2B5EF4-FFF2-40B4-BE49-F238E27FC236}">
                  <a16:creationId xmlns:a16="http://schemas.microsoft.com/office/drawing/2014/main" id="{BCC31319-0CFB-4318-B56D-38F79543883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9600" y="6248400"/>
              <a:ext cx="549275" cy="27463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lang="en-US" altLang="en-US" sz="1200" dirty="0"/>
                <a:t>States</a:t>
              </a: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E4B944C5-4159-45AC-A452-4E3D1B0B311C}"/>
              </a:ext>
            </a:extLst>
          </p:cNvPr>
          <p:cNvSpPr/>
          <p:nvPr/>
        </p:nvSpPr>
        <p:spPr>
          <a:xfrm>
            <a:off x="457200" y="304800"/>
            <a:ext cx="53340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>
              <a:spcBef>
                <a:spcPts val="0"/>
              </a:spcBef>
              <a:spcAft>
                <a:spcPts val="0"/>
              </a:spcAft>
              <a:buFont typeface="+mj-lt"/>
              <a:buAutoNum type="arabicPeriod" startAt="3"/>
              <a:tabLst>
                <a:tab pos="228600" algn="l"/>
              </a:tabLst>
            </a:pPr>
            <a:r>
              <a:rPr lang="en-US" sz="1200" dirty="0">
                <a:ea typeface="Times New Roman" panose="02020603050405020304" pitchFamily="18" charset="0"/>
              </a:rPr>
              <a:t>a.  Show the adjacency matrix that would describe the edges in the graph. Store the vertices in alphabetical order</a:t>
            </a:r>
            <a:endParaRPr lang="en-US" sz="1000" dirty="0">
              <a:ea typeface="Times New Roman" panose="02020603050405020304" pitchFamily="18" charset="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FE0C131-50E4-F69E-3CB2-F9E5CDF3E9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8452875"/>
              </p:ext>
            </p:extLst>
          </p:nvPr>
        </p:nvGraphicFramePr>
        <p:xfrm>
          <a:off x="2438400" y="1691958"/>
          <a:ext cx="3962399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057">
                  <a:extLst>
                    <a:ext uri="{9D8B030D-6E8A-4147-A177-3AD203B41FA5}">
                      <a16:colId xmlns:a16="http://schemas.microsoft.com/office/drawing/2014/main" val="2639885673"/>
                    </a:ext>
                  </a:extLst>
                </a:gridCol>
                <a:gridCol w="566057">
                  <a:extLst>
                    <a:ext uri="{9D8B030D-6E8A-4147-A177-3AD203B41FA5}">
                      <a16:colId xmlns:a16="http://schemas.microsoft.com/office/drawing/2014/main" val="2381352306"/>
                    </a:ext>
                  </a:extLst>
                </a:gridCol>
                <a:gridCol w="566057">
                  <a:extLst>
                    <a:ext uri="{9D8B030D-6E8A-4147-A177-3AD203B41FA5}">
                      <a16:colId xmlns:a16="http://schemas.microsoft.com/office/drawing/2014/main" val="1522115056"/>
                    </a:ext>
                  </a:extLst>
                </a:gridCol>
                <a:gridCol w="566057">
                  <a:extLst>
                    <a:ext uri="{9D8B030D-6E8A-4147-A177-3AD203B41FA5}">
                      <a16:colId xmlns:a16="http://schemas.microsoft.com/office/drawing/2014/main" val="1404255574"/>
                    </a:ext>
                  </a:extLst>
                </a:gridCol>
                <a:gridCol w="566057">
                  <a:extLst>
                    <a:ext uri="{9D8B030D-6E8A-4147-A177-3AD203B41FA5}">
                      <a16:colId xmlns:a16="http://schemas.microsoft.com/office/drawing/2014/main" val="781784871"/>
                    </a:ext>
                  </a:extLst>
                </a:gridCol>
                <a:gridCol w="566057">
                  <a:extLst>
                    <a:ext uri="{9D8B030D-6E8A-4147-A177-3AD203B41FA5}">
                      <a16:colId xmlns:a16="http://schemas.microsoft.com/office/drawing/2014/main" val="2891000188"/>
                    </a:ext>
                  </a:extLst>
                </a:gridCol>
                <a:gridCol w="566057">
                  <a:extLst>
                    <a:ext uri="{9D8B030D-6E8A-4147-A177-3AD203B41FA5}">
                      <a16:colId xmlns:a16="http://schemas.microsoft.com/office/drawing/2014/main" val="1093830682"/>
                    </a:ext>
                  </a:extLst>
                </a:gridCol>
              </a:tblGrid>
              <a:tr h="335235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09932297"/>
                  </a:ext>
                </a:extLst>
              </a:tr>
              <a:tr h="335235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1095699"/>
                  </a:ext>
                </a:extLst>
              </a:tr>
              <a:tr h="335235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1626340"/>
                  </a:ext>
                </a:extLst>
              </a:tr>
              <a:tr h="335235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1211046"/>
                  </a:ext>
                </a:extLst>
              </a:tr>
              <a:tr h="335235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3379906"/>
                  </a:ext>
                </a:extLst>
              </a:tr>
              <a:tr h="335235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35559399"/>
                  </a:ext>
                </a:extLst>
              </a:tr>
              <a:tr h="335235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139195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8C43330-FF0C-297F-CECA-AE1112781F12}"/>
              </a:ext>
            </a:extLst>
          </p:cNvPr>
          <p:cNvSpPr txBox="1"/>
          <p:nvPr/>
        </p:nvSpPr>
        <p:spPr>
          <a:xfrm>
            <a:off x="2438399" y="1276013"/>
            <a:ext cx="39618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AK  CA  HI  NY  OR  TX  VT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1DB96C-F75A-2F0A-A50B-38F0E6538CA9}"/>
              </a:ext>
            </a:extLst>
          </p:cNvPr>
          <p:cNvSpPr txBox="1"/>
          <p:nvPr/>
        </p:nvSpPr>
        <p:spPr>
          <a:xfrm>
            <a:off x="1442974" y="1633290"/>
            <a:ext cx="630301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AK</a:t>
            </a:r>
          </a:p>
          <a:p>
            <a:r>
              <a:rPr lang="en-US" dirty="0"/>
              <a:t>CA</a:t>
            </a:r>
          </a:p>
          <a:p>
            <a:r>
              <a:rPr lang="en-US" dirty="0"/>
              <a:t>HI</a:t>
            </a:r>
          </a:p>
          <a:p>
            <a:r>
              <a:rPr lang="en-US" dirty="0"/>
              <a:t>NY</a:t>
            </a:r>
          </a:p>
          <a:p>
            <a:r>
              <a:rPr lang="en-US" dirty="0"/>
              <a:t>OR</a:t>
            </a:r>
          </a:p>
          <a:p>
            <a:r>
              <a:rPr lang="en-US" dirty="0"/>
              <a:t>TX</a:t>
            </a:r>
          </a:p>
          <a:p>
            <a:r>
              <a:rPr lang="en-US" dirty="0"/>
              <a:t>VT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D4BE4E-99D3-8F0A-F38A-18C99B801D0E}"/>
              </a:ext>
            </a:extLst>
          </p:cNvPr>
          <p:cNvSpPr txBox="1"/>
          <p:nvPr/>
        </p:nvSpPr>
        <p:spPr>
          <a:xfrm>
            <a:off x="1524000" y="6477000"/>
            <a:ext cx="1847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9D6D71-5DB7-0A5B-F803-369CBD2355CD}"/>
              </a:ext>
            </a:extLst>
          </p:cNvPr>
          <p:cNvSpPr txBox="1"/>
          <p:nvPr/>
        </p:nvSpPr>
        <p:spPr>
          <a:xfrm>
            <a:off x="288925" y="6091932"/>
            <a:ext cx="6605206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Alaska 	| Oregon</a:t>
            </a:r>
          </a:p>
          <a:p>
            <a:r>
              <a:rPr lang="en-US" dirty="0"/>
              <a:t>California 	| [No neighbors]</a:t>
            </a:r>
          </a:p>
          <a:p>
            <a:r>
              <a:rPr lang="en-US" dirty="0"/>
              <a:t>Hawaii 	| Alaska, Texas, California, </a:t>
            </a:r>
            <a:r>
              <a:rPr lang="en-US" dirty="0" err="1"/>
              <a:t>NewYork</a:t>
            </a:r>
            <a:endParaRPr lang="en-US" dirty="0"/>
          </a:p>
          <a:p>
            <a:r>
              <a:rPr lang="en-US" dirty="0" err="1"/>
              <a:t>NewYork</a:t>
            </a:r>
            <a:r>
              <a:rPr lang="en-US" dirty="0"/>
              <a:t> 	| [No neighbors]</a:t>
            </a:r>
          </a:p>
          <a:p>
            <a:r>
              <a:rPr lang="en-US" dirty="0"/>
              <a:t>Oregon 	| [No neighbors]</a:t>
            </a:r>
          </a:p>
          <a:p>
            <a:r>
              <a:rPr lang="en-US" dirty="0"/>
              <a:t>Texas 		| Hawaii, Vermont</a:t>
            </a:r>
          </a:p>
          <a:p>
            <a:r>
              <a:rPr lang="en-US" dirty="0"/>
              <a:t>Vermont 	| California, Alaska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9B977FDE-32EA-465E-AADB-9C989EE1CA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400" y="609600"/>
            <a:ext cx="4391025" cy="2647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Rectangle 4">
            <a:extLst>
              <a:ext uri="{FF2B5EF4-FFF2-40B4-BE49-F238E27FC236}">
                <a16:creationId xmlns:a16="http://schemas.microsoft.com/office/drawing/2014/main" id="{644F9C34-5703-4C24-9E52-5CCFFBD67C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973" y="2895600"/>
            <a:ext cx="5704254" cy="2308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20000"/>
              </a:spcBef>
              <a:buChar char="•"/>
              <a:tabLst>
                <a:tab pos="0" algn="l"/>
                <a:tab pos="685800" algn="l"/>
                <a:tab pos="914400" algn="l"/>
                <a:tab pos="1143000" algn="l"/>
                <a:tab pos="1371600" algn="l"/>
                <a:tab pos="1600200" algn="l"/>
                <a:tab pos="1828800" algn="l"/>
                <a:tab pos="2057400" algn="l"/>
                <a:tab pos="2286000" algn="l"/>
                <a:tab pos="2514600" algn="l"/>
                <a:tab pos="2743200" algn="l"/>
                <a:tab pos="2971800" algn="l"/>
                <a:tab pos="3200400" algn="l"/>
                <a:tab pos="3429000" algn="l"/>
                <a:tab pos="3657600" algn="l"/>
                <a:tab pos="3708400" algn="l"/>
                <a:tab pos="3886200" algn="l"/>
                <a:tab pos="4114800" algn="l"/>
                <a:tab pos="4343400" algn="l"/>
                <a:tab pos="4572000" algn="l"/>
                <a:tab pos="4800600" algn="l"/>
                <a:tab pos="5029200" algn="l"/>
              </a:tabLst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tabLst>
                <a:tab pos="0" algn="l"/>
                <a:tab pos="685800" algn="l"/>
                <a:tab pos="914400" algn="l"/>
                <a:tab pos="1143000" algn="l"/>
                <a:tab pos="1371600" algn="l"/>
                <a:tab pos="1600200" algn="l"/>
                <a:tab pos="1828800" algn="l"/>
                <a:tab pos="2057400" algn="l"/>
                <a:tab pos="2286000" algn="l"/>
                <a:tab pos="2514600" algn="l"/>
                <a:tab pos="2743200" algn="l"/>
                <a:tab pos="2971800" algn="l"/>
                <a:tab pos="3200400" algn="l"/>
                <a:tab pos="3429000" algn="l"/>
                <a:tab pos="3657600" algn="l"/>
                <a:tab pos="3708400" algn="l"/>
                <a:tab pos="3886200" algn="l"/>
                <a:tab pos="4114800" algn="l"/>
                <a:tab pos="4343400" algn="l"/>
                <a:tab pos="4572000" algn="l"/>
                <a:tab pos="4800600" algn="l"/>
                <a:tab pos="5029200" algn="l"/>
              </a:tabLst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tabLst>
                <a:tab pos="0" algn="l"/>
                <a:tab pos="685800" algn="l"/>
                <a:tab pos="914400" algn="l"/>
                <a:tab pos="1143000" algn="l"/>
                <a:tab pos="1371600" algn="l"/>
                <a:tab pos="1600200" algn="l"/>
                <a:tab pos="1828800" algn="l"/>
                <a:tab pos="2057400" algn="l"/>
                <a:tab pos="2286000" algn="l"/>
                <a:tab pos="2514600" algn="l"/>
                <a:tab pos="2743200" algn="l"/>
                <a:tab pos="2971800" algn="l"/>
                <a:tab pos="3200400" algn="l"/>
                <a:tab pos="3429000" algn="l"/>
                <a:tab pos="3657600" algn="l"/>
                <a:tab pos="3708400" algn="l"/>
                <a:tab pos="3886200" algn="l"/>
                <a:tab pos="4114800" algn="l"/>
                <a:tab pos="4343400" algn="l"/>
                <a:tab pos="4572000" algn="l"/>
                <a:tab pos="4800600" algn="l"/>
                <a:tab pos="5029200" algn="l"/>
              </a:tabLs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tabLst>
                <a:tab pos="0" algn="l"/>
                <a:tab pos="685800" algn="l"/>
                <a:tab pos="914400" algn="l"/>
                <a:tab pos="1143000" algn="l"/>
                <a:tab pos="1371600" algn="l"/>
                <a:tab pos="1600200" algn="l"/>
                <a:tab pos="1828800" algn="l"/>
                <a:tab pos="2057400" algn="l"/>
                <a:tab pos="2286000" algn="l"/>
                <a:tab pos="2514600" algn="l"/>
                <a:tab pos="2743200" algn="l"/>
                <a:tab pos="2971800" algn="l"/>
                <a:tab pos="3200400" algn="l"/>
                <a:tab pos="3429000" algn="l"/>
                <a:tab pos="3657600" algn="l"/>
                <a:tab pos="3708400" algn="l"/>
                <a:tab pos="3886200" algn="l"/>
                <a:tab pos="4114800" algn="l"/>
                <a:tab pos="4343400" algn="l"/>
                <a:tab pos="4572000" algn="l"/>
                <a:tab pos="4800600" algn="l"/>
                <a:tab pos="5029200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tabLst>
                <a:tab pos="0" algn="l"/>
                <a:tab pos="685800" algn="l"/>
                <a:tab pos="914400" algn="l"/>
                <a:tab pos="1143000" algn="l"/>
                <a:tab pos="1371600" algn="l"/>
                <a:tab pos="1600200" algn="l"/>
                <a:tab pos="1828800" algn="l"/>
                <a:tab pos="2057400" algn="l"/>
                <a:tab pos="2286000" algn="l"/>
                <a:tab pos="2514600" algn="l"/>
                <a:tab pos="2743200" algn="l"/>
                <a:tab pos="2971800" algn="l"/>
                <a:tab pos="3200400" algn="l"/>
                <a:tab pos="3429000" algn="l"/>
                <a:tab pos="3657600" algn="l"/>
                <a:tab pos="3708400" algn="l"/>
                <a:tab pos="3886200" algn="l"/>
                <a:tab pos="4114800" algn="l"/>
                <a:tab pos="4343400" algn="l"/>
                <a:tab pos="4572000" algn="l"/>
                <a:tab pos="4800600" algn="l"/>
                <a:tab pos="5029200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0" algn="l"/>
                <a:tab pos="685800" algn="l"/>
                <a:tab pos="914400" algn="l"/>
                <a:tab pos="1143000" algn="l"/>
                <a:tab pos="1371600" algn="l"/>
                <a:tab pos="1600200" algn="l"/>
                <a:tab pos="1828800" algn="l"/>
                <a:tab pos="2057400" algn="l"/>
                <a:tab pos="2286000" algn="l"/>
                <a:tab pos="2514600" algn="l"/>
                <a:tab pos="2743200" algn="l"/>
                <a:tab pos="2971800" algn="l"/>
                <a:tab pos="3200400" algn="l"/>
                <a:tab pos="3429000" algn="l"/>
                <a:tab pos="3657600" algn="l"/>
                <a:tab pos="3708400" algn="l"/>
                <a:tab pos="3886200" algn="l"/>
                <a:tab pos="4114800" algn="l"/>
                <a:tab pos="4343400" algn="l"/>
                <a:tab pos="4572000" algn="l"/>
                <a:tab pos="4800600" algn="l"/>
                <a:tab pos="5029200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0" algn="l"/>
                <a:tab pos="685800" algn="l"/>
                <a:tab pos="914400" algn="l"/>
                <a:tab pos="1143000" algn="l"/>
                <a:tab pos="1371600" algn="l"/>
                <a:tab pos="1600200" algn="l"/>
                <a:tab pos="1828800" algn="l"/>
                <a:tab pos="2057400" algn="l"/>
                <a:tab pos="2286000" algn="l"/>
                <a:tab pos="2514600" algn="l"/>
                <a:tab pos="2743200" algn="l"/>
                <a:tab pos="2971800" algn="l"/>
                <a:tab pos="3200400" algn="l"/>
                <a:tab pos="3429000" algn="l"/>
                <a:tab pos="3657600" algn="l"/>
                <a:tab pos="3708400" algn="l"/>
                <a:tab pos="3886200" algn="l"/>
                <a:tab pos="4114800" algn="l"/>
                <a:tab pos="4343400" algn="l"/>
                <a:tab pos="4572000" algn="l"/>
                <a:tab pos="4800600" algn="l"/>
                <a:tab pos="5029200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0" algn="l"/>
                <a:tab pos="685800" algn="l"/>
                <a:tab pos="914400" algn="l"/>
                <a:tab pos="1143000" algn="l"/>
                <a:tab pos="1371600" algn="l"/>
                <a:tab pos="1600200" algn="l"/>
                <a:tab pos="1828800" algn="l"/>
                <a:tab pos="2057400" algn="l"/>
                <a:tab pos="2286000" algn="l"/>
                <a:tab pos="2514600" algn="l"/>
                <a:tab pos="2743200" algn="l"/>
                <a:tab pos="2971800" algn="l"/>
                <a:tab pos="3200400" algn="l"/>
                <a:tab pos="3429000" algn="l"/>
                <a:tab pos="3657600" algn="l"/>
                <a:tab pos="3708400" algn="l"/>
                <a:tab pos="3886200" algn="l"/>
                <a:tab pos="4114800" algn="l"/>
                <a:tab pos="4343400" algn="l"/>
                <a:tab pos="4572000" algn="l"/>
                <a:tab pos="4800600" algn="l"/>
                <a:tab pos="5029200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tabLst>
                <a:tab pos="0" algn="l"/>
                <a:tab pos="685800" algn="l"/>
                <a:tab pos="914400" algn="l"/>
                <a:tab pos="1143000" algn="l"/>
                <a:tab pos="1371600" algn="l"/>
                <a:tab pos="1600200" algn="l"/>
                <a:tab pos="1828800" algn="l"/>
                <a:tab pos="2057400" algn="l"/>
                <a:tab pos="2286000" algn="l"/>
                <a:tab pos="2514600" algn="l"/>
                <a:tab pos="2743200" algn="l"/>
                <a:tab pos="2971800" algn="l"/>
                <a:tab pos="3200400" algn="l"/>
                <a:tab pos="3429000" algn="l"/>
                <a:tab pos="3657600" algn="l"/>
                <a:tab pos="3708400" algn="l"/>
                <a:tab pos="3886200" algn="l"/>
                <a:tab pos="4114800" algn="l"/>
                <a:tab pos="4343400" algn="l"/>
                <a:tab pos="4572000" algn="l"/>
                <a:tab pos="4800600" algn="l"/>
                <a:tab pos="5029200" algn="l"/>
              </a:tabLst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/>
              <a:t>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/>
              <a:t>		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/>
              <a:t>4 a.    Which of the following lists the graph nodes in depth first order beginning with E?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/>
              <a:t>	A)	E, G, F, C, D, B, A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/>
              <a:t>	B)	G, A, E, C, B, F, D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/>
              <a:t>	C)	E, G, A, D, F, C, B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/>
              <a:t>	D)	E, C, F, B, A, D, G 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1200" dirty="0"/>
          </a:p>
          <a:p>
            <a:pPr>
              <a:spcBef>
                <a:spcPct val="0"/>
              </a:spcBef>
              <a:buFontTx/>
              <a:buNone/>
            </a:pPr>
            <a:endParaRPr lang="en-US" altLang="en-US" sz="1200" dirty="0"/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/>
              <a:t>ANSWER: C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/>
              <a:t>(I’m not sure what order was chosen when there were multiple options,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/>
              <a:t>but the other answers are not possible as they backtrack instead of focusing on depth first</a:t>
            </a:r>
          </a:p>
        </p:txBody>
      </p:sp>
      <p:sp>
        <p:nvSpPr>
          <p:cNvPr id="4" name="Text Box 5">
            <a:extLst>
              <a:ext uri="{FF2B5EF4-FFF2-40B4-BE49-F238E27FC236}">
                <a16:creationId xmlns:a16="http://schemas.microsoft.com/office/drawing/2014/main" id="{F45A182C-00FA-4567-8FE6-CAFB6DBCF4C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5876206"/>
            <a:ext cx="5715000" cy="21236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/>
              <a:t>4 b.    Which of the following lists the graph nodes in breadth first order beginning at F?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/>
              <a:t>	A)  F, C, D, A, B, E, G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/>
              <a:t>	B)  F, D, C, A, B, C, G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/>
              <a:t>	C)  F, C, D, B, G, A, E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/>
              <a:t>	D)  a, b, and c are all breadth first traversals 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1200" dirty="0"/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/>
              <a:t>Alphabetical order gets option A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/>
              <a:t>Reverse alphabetical order gets FDCAEBG which isn’t an option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/>
              <a:t>Option B cannot be correct since it repeats vertices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1200" dirty="0"/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200" dirty="0"/>
              <a:t>ANSWER: A</a:t>
            </a:r>
          </a:p>
        </p:txBody>
      </p:sp>
    </p:spTree>
    <p:extLst>
      <p:ext uri="{BB962C8B-B14F-4D97-AF65-F5344CB8AC3E}">
        <p14:creationId xmlns:p14="http://schemas.microsoft.com/office/powerpoint/2010/main" val="28453382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4" descr="9_633b">
            <a:extLst>
              <a:ext uri="{FF2B5EF4-FFF2-40B4-BE49-F238E27FC236}">
                <a16:creationId xmlns:a16="http://schemas.microsoft.com/office/drawing/2014/main" id="{31561808-D3EA-42DE-AACF-7FE716DB2F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685800"/>
            <a:ext cx="4648200" cy="2855913"/>
          </a:xfrm>
          <a:prstGeom prst="rect">
            <a:avLst/>
          </a:prstGeom>
          <a:noFill/>
          <a:ln w="28575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99" name="Text Box 5">
            <a:extLst>
              <a:ext uri="{FF2B5EF4-FFF2-40B4-BE49-F238E27FC236}">
                <a16:creationId xmlns:a16="http://schemas.microsoft.com/office/drawing/2014/main" id="{6A9A4ED3-BE14-4EA7-88B6-70C20075BE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3962400"/>
            <a:ext cx="4159472" cy="2197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marL="228600" indent="-228600">
              <a:spcBef>
                <a:spcPct val="0"/>
              </a:spcBef>
              <a:buFontTx/>
              <a:buAutoNum type="arabicPeriod" startAt="5"/>
            </a:pPr>
            <a:r>
              <a:rPr lang="en-US" altLang="en-US" sz="1200" dirty="0"/>
              <a:t>Find the shortest </a:t>
            </a:r>
            <a:r>
              <a:rPr lang="en-US" altLang="en-US" sz="1200" u="sng" dirty="0"/>
              <a:t>distance</a:t>
            </a:r>
            <a:r>
              <a:rPr lang="en-US" altLang="en-US" sz="1200" dirty="0"/>
              <a:t> from Atlanta to every other city</a:t>
            </a:r>
          </a:p>
          <a:p>
            <a:pPr>
              <a:buNone/>
            </a:pPr>
            <a:endParaRPr lang="en-US" sz="1200" dirty="0"/>
          </a:p>
          <a:p>
            <a:pPr>
              <a:buNone/>
            </a:pPr>
            <a:r>
              <a:rPr lang="en-US" sz="1200" dirty="0"/>
              <a:t>To Austin (2100): Atlanta -&gt; Washington -&gt; Dallas -&gt; Austin</a:t>
            </a:r>
          </a:p>
          <a:p>
            <a:pPr>
              <a:buNone/>
            </a:pPr>
            <a:r>
              <a:rPr lang="en-US" sz="1200" dirty="0"/>
              <a:t>To Chicago (2800): Atlanta -&gt; Washington -&gt; Dallas -&gt; Chicago</a:t>
            </a:r>
          </a:p>
          <a:p>
            <a:pPr>
              <a:buNone/>
            </a:pPr>
            <a:r>
              <a:rPr lang="en-US" sz="1200" dirty="0"/>
              <a:t>To Dallas (1900): Atlanta -&gt; Washington -&gt; Dallas</a:t>
            </a:r>
          </a:p>
          <a:p>
            <a:pPr>
              <a:buNone/>
            </a:pPr>
            <a:r>
              <a:rPr lang="en-US" sz="1200" dirty="0"/>
              <a:t>To Denver (2680): Atlanta -&gt; Washington -&gt; Dallas -&gt; Denver</a:t>
            </a:r>
          </a:p>
          <a:p>
            <a:pPr>
              <a:buNone/>
            </a:pPr>
            <a:r>
              <a:rPr lang="en-US" sz="1200" dirty="0"/>
              <a:t>To Houston (800): Atlanta -&gt; Houston</a:t>
            </a:r>
          </a:p>
          <a:p>
            <a:pPr>
              <a:buNone/>
            </a:pPr>
            <a:r>
              <a:rPr lang="en-US" sz="1200" dirty="0"/>
              <a:t>To Washington (600): Atlanta -&gt; Washington</a:t>
            </a:r>
          </a:p>
          <a:p>
            <a:pPr>
              <a:spcBef>
                <a:spcPct val="0"/>
              </a:spcBef>
              <a:buNone/>
            </a:pPr>
            <a:endParaRPr lang="en-US" altLang="en-US" sz="1200" dirty="0"/>
          </a:p>
          <a:p>
            <a:pPr>
              <a:spcBef>
                <a:spcPct val="0"/>
              </a:spcBef>
              <a:buNone/>
            </a:pPr>
            <a:endParaRPr lang="en-US" alt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ext Box 5">
            <a:extLst>
              <a:ext uri="{FF2B5EF4-FFF2-40B4-BE49-F238E27FC236}">
                <a16:creationId xmlns:a16="http://schemas.microsoft.com/office/drawing/2014/main" id="{173F8752-B146-46CD-B46E-CFF49491B8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609600"/>
            <a:ext cx="4942443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350" dirty="0"/>
              <a:t>6.  Find the minimal spanning tree using Prim’s algorithm. Use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350" dirty="0"/>
              <a:t>	0 as the source vertex .  Show the steps.</a:t>
            </a:r>
          </a:p>
        </p:txBody>
      </p:sp>
      <p:pic>
        <p:nvPicPr>
          <p:cNvPr id="2051" name="Picture 5">
            <a:extLst>
              <a:ext uri="{FF2B5EF4-FFF2-40B4-BE49-F238E27FC236}">
                <a16:creationId xmlns:a16="http://schemas.microsoft.com/office/drawing/2014/main" id="{46AC5A2B-1B00-4434-8F50-20AAD41C6B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1524000"/>
            <a:ext cx="2686050" cy="21288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0E27E15-F937-E0BF-2194-0CEB3BB18E34}"/>
              </a:ext>
            </a:extLst>
          </p:cNvPr>
          <p:cNvSpPr txBox="1"/>
          <p:nvPr/>
        </p:nvSpPr>
        <p:spPr>
          <a:xfrm>
            <a:off x="609600" y="4114800"/>
            <a:ext cx="215956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0, 2, 5, 1, 4, 3</a:t>
            </a:r>
          </a:p>
          <a:p>
            <a:r>
              <a:rPr lang="en-US" dirty="0"/>
              <a:t>0</a:t>
            </a:r>
            <a:r>
              <a:rPr lang="en-US" dirty="0">
                <a:sym typeface="Wingdings" panose="05000000000000000000" pitchFamily="2" charset="2"/>
              </a:rPr>
              <a:t>2513</a:t>
            </a:r>
          </a:p>
          <a:p>
            <a:r>
              <a:rPr lang="en-US" dirty="0">
                <a:sym typeface="Wingdings" panose="05000000000000000000" pitchFamily="2" charset="2"/>
              </a:rPr>
              <a:t>54</a:t>
            </a: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Text Box 3">
            <a:extLst>
              <a:ext uri="{FF2B5EF4-FFF2-40B4-BE49-F238E27FC236}">
                <a16:creationId xmlns:a16="http://schemas.microsoft.com/office/drawing/2014/main" id="{00A92C8E-6175-4482-94F6-9AEE58F153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8600" y="838200"/>
            <a:ext cx="6348854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r>
              <a:rPr lang="en-US" sz="1800" dirty="0"/>
              <a:t>7.  Find the minimal spanning tree using Kruskal’s algorithm.</a:t>
            </a:r>
          </a:p>
          <a:p>
            <a:pPr eaLnBrk="1" hangingPunct="1">
              <a:defRPr/>
            </a:pPr>
            <a:r>
              <a:rPr lang="en-US" sz="1800" dirty="0"/>
              <a:t>Show the weights in order and the steps.</a:t>
            </a:r>
          </a:p>
        </p:txBody>
      </p:sp>
      <p:sp>
        <p:nvSpPr>
          <p:cNvPr id="3075" name="Rectangle 4">
            <a:extLst>
              <a:ext uri="{FF2B5EF4-FFF2-40B4-BE49-F238E27FC236}">
                <a16:creationId xmlns:a16="http://schemas.microsoft.com/office/drawing/2014/main" id="{E71DD7EA-C580-43B3-BC05-FA24AC85E0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450" y="4800600"/>
            <a:ext cx="2571750" cy="2857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1350"/>
          </a:p>
        </p:txBody>
      </p:sp>
      <p:sp>
        <p:nvSpPr>
          <p:cNvPr id="3076" name="Rectangle 5">
            <a:extLst>
              <a:ext uri="{FF2B5EF4-FFF2-40B4-BE49-F238E27FC236}">
                <a16:creationId xmlns:a16="http://schemas.microsoft.com/office/drawing/2014/main" id="{5A054E60-1451-4BFE-A023-A4DF0B7F16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2743200"/>
            <a:ext cx="2228850" cy="21717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1350"/>
          </a:p>
        </p:txBody>
      </p:sp>
      <p:sp>
        <p:nvSpPr>
          <p:cNvPr id="3077" name="Rectangle 6">
            <a:extLst>
              <a:ext uri="{FF2B5EF4-FFF2-40B4-BE49-F238E27FC236}">
                <a16:creationId xmlns:a16="http://schemas.microsoft.com/office/drawing/2014/main" id="{D4108B9B-143E-4D5F-B2C5-7B979A64B8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6250" y="2743200"/>
            <a:ext cx="2114550" cy="20002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1350"/>
          </a:p>
        </p:txBody>
      </p:sp>
      <p:sp>
        <p:nvSpPr>
          <p:cNvPr id="3078" name="Rectangle 7">
            <a:extLst>
              <a:ext uri="{FF2B5EF4-FFF2-40B4-BE49-F238E27FC236}">
                <a16:creationId xmlns:a16="http://schemas.microsoft.com/office/drawing/2014/main" id="{2C2C5CBD-8904-410A-901D-4499337BD2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00250" y="4572000"/>
            <a:ext cx="240030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1350"/>
          </a:p>
        </p:txBody>
      </p:sp>
      <p:sp>
        <p:nvSpPr>
          <p:cNvPr id="3079" name="Rectangle 8">
            <a:extLst>
              <a:ext uri="{FF2B5EF4-FFF2-40B4-BE49-F238E27FC236}">
                <a16:creationId xmlns:a16="http://schemas.microsoft.com/office/drawing/2014/main" id="{4FDBE91F-B50C-4798-9349-2A662252E3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14550" y="2743200"/>
            <a:ext cx="2343150" cy="17145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1350"/>
          </a:p>
        </p:txBody>
      </p:sp>
      <p:pic>
        <p:nvPicPr>
          <p:cNvPr id="3080" name="Picture 5">
            <a:extLst>
              <a:ext uri="{FF2B5EF4-FFF2-40B4-BE49-F238E27FC236}">
                <a16:creationId xmlns:a16="http://schemas.microsoft.com/office/drawing/2014/main" id="{C44D3F9C-B06C-4D17-8564-DC283D6A4E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4400" y="1600200"/>
            <a:ext cx="2686050" cy="21288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4" descr="08">
            <a:extLst>
              <a:ext uri="{FF2B5EF4-FFF2-40B4-BE49-F238E27FC236}">
                <a16:creationId xmlns:a16="http://schemas.microsoft.com/office/drawing/2014/main" id="{8C139698-8935-4237-9D08-07DB6B3B19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" y="1524000"/>
            <a:ext cx="5715000" cy="35647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9" name="Rectangle 5">
            <a:extLst>
              <a:ext uri="{FF2B5EF4-FFF2-40B4-BE49-F238E27FC236}">
                <a16:creationId xmlns:a16="http://schemas.microsoft.com/office/drawing/2014/main" id="{8D0E32BB-9F2D-4736-AA1F-A3FD6F876F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" y="762000"/>
            <a:ext cx="5522730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350" dirty="0"/>
              <a:t>8.  Find the minimal spanning tree using the algorithm you prefer. Use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350" dirty="0"/>
              <a:t>	Minneapolis/St. Paul as the source vertex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5994F80-3CC1-0071-8D65-C78EA83447DB}"/>
              </a:ext>
            </a:extLst>
          </p:cNvPr>
          <p:cNvSpPr txBox="1"/>
          <p:nvPr/>
        </p:nvSpPr>
        <p:spPr>
          <a:xfrm>
            <a:off x="1066800" y="6324600"/>
            <a:ext cx="159691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 PRIM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Text Box 5">
            <a:extLst>
              <a:ext uri="{FF2B5EF4-FFF2-40B4-BE49-F238E27FC236}">
                <a16:creationId xmlns:a16="http://schemas.microsoft.com/office/drawing/2014/main" id="{80443669-B4DB-4504-ACF5-BCC233134B1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685800"/>
            <a:ext cx="6138219" cy="507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350" dirty="0"/>
              <a:t>9. List the nodes of the graph in a breadth first topological ordering.  Show the</a:t>
            </a:r>
          </a:p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350" dirty="0"/>
              <a:t>     steps using arrays predCount, topologicalOrder and a queue</a:t>
            </a:r>
          </a:p>
        </p:txBody>
      </p:sp>
      <p:sp>
        <p:nvSpPr>
          <p:cNvPr id="5127" name="Rectangle 10">
            <a:extLst>
              <a:ext uri="{FF2B5EF4-FFF2-40B4-BE49-F238E27FC236}">
                <a16:creationId xmlns:a16="http://schemas.microsoft.com/office/drawing/2014/main" id="{C6B0D4E7-088E-4AFF-8702-57CBB2E7E1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8800" y="304800"/>
            <a:ext cx="2571750" cy="2286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endParaRPr lang="en-US" altLang="en-US" sz="135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CAFEBF-6A63-4870-9BDF-00EB301F68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600" y="1524000"/>
            <a:ext cx="3962400" cy="249247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4" descr="08">
            <a:extLst>
              <a:ext uri="{FF2B5EF4-FFF2-40B4-BE49-F238E27FC236}">
                <a16:creationId xmlns:a16="http://schemas.microsoft.com/office/drawing/2014/main" id="{9FE784F9-D9A7-4F7B-AD49-6C3E9EEF28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400" y="1219200"/>
            <a:ext cx="5715000" cy="2514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147" name="Rectangle 5">
            <a:extLst>
              <a:ext uri="{FF2B5EF4-FFF2-40B4-BE49-F238E27FC236}">
                <a16:creationId xmlns:a16="http://schemas.microsoft.com/office/drawing/2014/main" id="{FF2496EF-C9B8-49EF-A543-7502752ACE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609600"/>
            <a:ext cx="5416868" cy="30008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FontTx/>
              <a:buNone/>
            </a:pPr>
            <a:r>
              <a:rPr lang="en-US" altLang="en-US" sz="1350" dirty="0"/>
              <a:t>10. List the nodes of the graph in a breadth first topological ordering.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Default Desig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1079</TotalTime>
  <Words>665</Words>
  <Application>Microsoft Office PowerPoint</Application>
  <PresentationFormat>On-screen Show (4:3)</PresentationFormat>
  <Paragraphs>118</Paragraphs>
  <Slides>9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Times New Roman</vt:lpstr>
      <vt:lpstr>Wingdings</vt:lpstr>
      <vt:lpstr>Default Design</vt:lpstr>
      <vt:lpstr>Microsoft Word 97 - 2003 Document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 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 Slide Title</dc:title>
  <dc:creator>Joe Wisniewski</dc:creator>
  <cp:lastModifiedBy>yoni rubin</cp:lastModifiedBy>
  <cp:revision>28</cp:revision>
  <cp:lastPrinted>2018-11-12T14:09:18Z</cp:lastPrinted>
  <dcterms:created xsi:type="dcterms:W3CDTF">2003-11-20T06:12:01Z</dcterms:created>
  <dcterms:modified xsi:type="dcterms:W3CDTF">2026-04-24T05:01:12Z</dcterms:modified>
</cp:coreProperties>
</file>